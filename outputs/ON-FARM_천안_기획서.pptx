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1874519"/>
            <a:ext cx="100584" cy="1371600"/>
          </a:xfrm>
          <a:prstGeom prst="rect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1430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C9BFAE"/>
                </a:solidFill>
                <a:latin typeface="맑은 고딕"/>
              </a:rPr>
              <a:t>2026년 천안시 AI·데이터 기반 정책 아이디어 경진대회 · 과제4 스마트 농업 &amp; 축산 생산성 향상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828800"/>
            <a:ext cx="100584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800" b="1">
                <a:solidFill>
                  <a:srgbClr val="FDF8F0"/>
                </a:solidFill>
                <a:latin typeface="맑은 고딕"/>
              </a:rPr>
              <a:t>ON-FARM</a:t>
            </a:r>
          </a:p>
          <a:p>
            <a:pPr algn="l">
              <a:lnSpc>
                <a:spcPct val="115000"/>
              </a:lnSpc>
            </a:pPr>
            <a:r>
              <a:rPr sz="2600" b="0">
                <a:solidFill>
                  <a:srgbClr val="E8E0D2"/>
                </a:solidFill>
                <a:latin typeface="맑은 고딕"/>
              </a:rPr>
              <a:t>사진 한 장으로 끝나는 고령농 출하 도구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2412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>
                <a:solidFill>
                  <a:srgbClr val="E8E0D2"/>
                </a:solidFill>
                <a:latin typeface="맑은 고딕"/>
              </a:rPr>
              <a:t>기른 것을 못 파는 손실을 줄여 </a:t>
            </a:r>
            <a:r>
              <a:rPr sz="2100" b="1">
                <a:solidFill>
                  <a:srgbClr val="DD4B14"/>
                </a:solidFill>
                <a:latin typeface="맑은 고딕"/>
              </a:rPr>
              <a:t>이미 심은 농산물의 실현 생산성</a:t>
            </a:r>
            <a:r>
              <a:rPr sz="2100" b="0">
                <a:solidFill>
                  <a:srgbClr val="E8E0D2"/>
                </a:solidFill>
                <a:latin typeface="맑은 고딕"/>
              </a:rPr>
              <a:t>을 높입니다.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천안 농가 중 로컬푸드 체계 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76.2%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농가가 입력하는 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0개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5074920"/>
            <a:ext cx="3383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작동하는 MVP · 자동 테스트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5358384"/>
            <a:ext cx="3383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DF8F0"/>
                </a:solidFill>
                <a:latin typeface="맑은 고딕"/>
              </a:rPr>
              <a:t>156개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제출: 2026년 8월 · 본 자료의 모든 수치는 공개 데이터에서 재계산하며 산출 스크립트를 함께 제출합니다.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왜 이것이 과제4의 '생산성' 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생산성은 밭에서 끝나지 않는다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0">
                <a:solidFill>
                  <a:srgbClr val="7A7266"/>
                </a:solidFill>
                <a:latin typeface="맑은 고딕"/>
              </a:rPr>
              <a:t>스마트팜·품종개량은 </a:t>
            </a:r>
            <a:r>
              <a:rPr sz="1750" b="1">
                <a:solidFill>
                  <a:srgbClr val="7A7266"/>
                </a:solidFill>
                <a:latin typeface="맑은 고딕"/>
              </a:rPr>
              <a:t>수확량</a:t>
            </a:r>
            <a:r>
              <a:rPr sz="1750" b="0">
                <a:solidFill>
                  <a:srgbClr val="7A7266"/>
                </a:solidFill>
                <a:latin typeface="맑은 고딕"/>
              </a:rPr>
              <a:t>까지를 늘립니다. 그런데 천안의 고령 소농에게 손실이 나는 곳은 그다음 칸입니다.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23201C"/>
                </a:solidFill>
                <a:latin typeface="맑은 고딕"/>
              </a:rPr>
              <a:t>잠재 생산량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땅과 품종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2788920"/>
            <a:ext cx="685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7A7266"/>
                </a:solidFill>
                <a:latin typeface="맑은 고딕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79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23201C"/>
                </a:solidFill>
                <a:latin typeface="맑은 고딕"/>
              </a:rPr>
              <a:t>수확량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재배 기술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788920"/>
            <a:ext cx="685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>
                <a:solidFill>
                  <a:srgbClr val="7A7266"/>
                </a:solidFill>
                <a:latin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19" y="2514600"/>
            <a:ext cx="3063240" cy="141732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2761488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100" b="1">
                <a:solidFill>
                  <a:srgbClr val="DD4B14"/>
                </a:solidFill>
                <a:latin typeface="맑은 고딕"/>
              </a:rPr>
              <a:t>실제 판매량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32461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0">
                <a:solidFill>
                  <a:srgbClr val="7A7266"/>
                </a:solidFill>
                <a:latin typeface="맑은 고딕"/>
              </a:rPr>
              <a:t>출하 능력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4023360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DD4B14"/>
                </a:solidFill>
                <a:latin typeface="맑은 고딕"/>
              </a:rPr>
              <a:t>▲ 여기가 비어 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709160"/>
            <a:ext cx="10607040" cy="1234440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956048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23201C"/>
                </a:solidFill>
                <a:latin typeface="맑은 고딕"/>
              </a:rPr>
              <a:t>밭에서 아무리 잘 길러도 </a:t>
            </a:r>
            <a:r>
              <a:rPr sz="1700" b="1">
                <a:solidFill>
                  <a:srgbClr val="DD4B14"/>
                </a:solidFill>
                <a:latin typeface="맑은 고딕"/>
              </a:rPr>
              <a:t>팔지 못하면 생산성은 0</a:t>
            </a:r>
            <a:r>
              <a:rPr sz="1700" b="0">
                <a:solidFill>
                  <a:srgbClr val="23201C"/>
                </a:solidFill>
                <a:latin typeface="맑은 고딕"/>
              </a:rPr>
              <a:t>입니다.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7A7266"/>
                </a:solidFill>
                <a:latin typeface="맑은 고딕"/>
              </a:rPr>
              <a:t>ON-FARM 은 왼쪽 화살표가 아니라 </a:t>
            </a:r>
            <a:r>
              <a:rPr sz="1700" b="1">
                <a:solidFill>
                  <a:srgbClr val="23201C"/>
                </a:solidFill>
                <a:latin typeface="맑은 고딕"/>
              </a:rPr>
              <a:t>오른쪽 화살표</a:t>
            </a:r>
            <a:r>
              <a:rPr sz="1700" b="0">
                <a:solidFill>
                  <a:srgbClr val="7A7266"/>
                </a:solidFill>
                <a:latin typeface="맑은 고딕"/>
              </a:rPr>
              <a:t>를 굵게 만듭니다 — 이것이 실현 생산성입니다.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과제4 「스마트 농업 &amp; 축산 생산성 향상」의 생산성을 재배 단계가 아니라 실현 단계로 정의한다.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천안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천안 농가 4곳 중 3곳은 로컬푸드 체계 밖에 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3</a:t>
            </a:r>
          </a:p>
        </p:txBody>
      </p:sp>
      <p:pic>
        <p:nvPicPr>
          <p:cNvPr id="6" name="Picture 5" descr="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83080"/>
            <a:ext cx="5120640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92024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천안시 전체 농가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249424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9,488가구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2029968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KOSIS 농림어업조사 2024 (상대표준오차 4.5%)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09067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로컬푸드 참여 농가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419856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2,256가구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3200400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직매장 12곳 · 2026년 매출 271억 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261104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7A7266"/>
                </a:solidFill>
                <a:latin typeface="맑은 고딕"/>
              </a:rPr>
              <a:t>체계 밖 농가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4590288"/>
            <a:ext cx="2834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DD4B14"/>
                </a:solidFill>
                <a:latin typeface="맑은 고딕"/>
              </a:rPr>
              <a:t>7,232가구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4370832"/>
            <a:ext cx="2834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A7266"/>
                </a:solidFill>
                <a:latin typeface="맑은 고딕"/>
              </a:rPr>
              <a:t>그들은 평균 65.1세가 경영하는 소농이다 (60대 이상 70% · 경지 1ha 미만 77%)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440680"/>
            <a:ext cx="5486400" cy="713232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5559552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23201C"/>
                </a:solidFill>
                <a:latin typeface="맑은 고딕"/>
              </a:rPr>
              <a:t>조사 주체·기준이 달라 정밀한 차집합이 아닙니다. 농가 수는 2024년, 연령·경지 비율은 2020년 총조사입니다.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출처: KOSIS DT_1EA1011(2024) 농가 · DT_1AG20107(2020 농림어업총조사) 연령·경지 · 로컬푸드 현황 보도(2026-05-27) · 산출 tools/cheonan_gap.py·cheonan_age.py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문제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판로가 없는 게 아니라, 등록을 못 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6035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7A7266"/>
                </a:solidFill>
                <a:latin typeface="맑은 고딕"/>
              </a:rPr>
              <a:t>직매장도 기존 직거래 앱도, 농가가 다음을 '입력할 수 있다'고 전제합니다.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상품명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51760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카테고리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79" y="2377440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25054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중량·규격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가격 책정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상세 설명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79" y="3163824"/>
            <a:ext cx="1737360" cy="621792"/>
          </a:xfrm>
          <a:prstGeom prst="roundRect">
            <a:avLst>
              <a:gd name="adj" fmla="val 6000"/>
            </a:avLst>
          </a:prstGeom>
          <a:solidFill>
            <a:srgbClr val="F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79" y="329184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8A8072"/>
                </a:solidFill>
                <a:latin typeface="맑은 고딕"/>
              </a:rPr>
              <a:t>사진 편집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041648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B42525"/>
                </a:solidFill>
                <a:latin typeface="맑은 고딕"/>
              </a:rPr>
              <a:t>고령 소농에게는 이 여섯 칸이 곧 장벽입니다.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06440" y="2743200"/>
            <a:ext cx="777240" cy="548640"/>
          </a:xfrm>
          <a:prstGeom prst="rightArrow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0" y="2011680"/>
            <a:ext cx="4526280" cy="256032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2212848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ON-FARM 에서 농가가 하는 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2697480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① 사진 찍기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3172968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② 번호 고르기 (1·2·3)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648456"/>
            <a:ext cx="4023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23201C"/>
                </a:solidFill>
                <a:latin typeface="맑은 고딕"/>
              </a:rPr>
              <a:t>③ 수량 확인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142232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7A7266"/>
                </a:solidFill>
                <a:latin typeface="맑은 고딕"/>
              </a:rPr>
              <a:t>그 외 입력 항목 0개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846320"/>
            <a:ext cx="10607040" cy="1097280"/>
          </a:xfrm>
          <a:prstGeom prst="roundRect">
            <a:avLst>
              <a:gd name="adj" fmla="val 6000"/>
            </a:avLst>
          </a:prstGeom>
          <a:solidFill>
            <a:srgbClr val="F5E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7A7266"/>
                </a:solidFill>
                <a:latin typeface="맑은 고딕"/>
              </a:rPr>
              <a:t>가격은 AI 가 아니라 </a:t>
            </a:r>
            <a:r>
              <a:rPr sz="1600" b="1">
                <a:solidFill>
                  <a:srgbClr val="23201C"/>
                </a:solidFill>
                <a:latin typeface="맑은 고딕"/>
              </a:rPr>
              <a:t>운영자가 미리 정한 표준 가격</a:t>
            </a:r>
            <a:r>
              <a:rPr sz="1600" b="0">
                <a:solidFill>
                  <a:srgbClr val="7A7266"/>
                </a:solidFill>
                <a:latin typeface="맑은 고딕"/>
              </a:rPr>
              <a:t> 이고, 등급 확정과 포장은 거점이 합니다. 농가는 </a:t>
            </a:r>
            <a:r>
              <a:rPr sz="1600" b="1">
                <a:solidFill>
                  <a:srgbClr val="23201C"/>
                </a:solidFill>
                <a:latin typeface="맑은 고딕"/>
              </a:rPr>
              <a:t>가격을 정하지도, 글을 쓰지도 않습니다.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기존 로컬푸드 직매장은 농가가 직접 상품을 갖다 놓고 가격표를 붙이고 재고를 관리하는 구조다 — 대체가 아니라 보완이다.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해법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사진 한 장에서 판매 시작까지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5</a:t>
            </a:r>
          </a:p>
        </p:txBody>
      </p:sp>
      <p:pic>
        <p:nvPicPr>
          <p:cNvPr id="6" name="Picture 5" descr="farmer-02-ph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" y="1783080"/>
            <a:ext cx="1499984" cy="32461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042416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① 사진 찍기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카메라 버튼 하나</a:t>
            </a:r>
          </a:p>
        </p:txBody>
      </p:sp>
      <p:pic>
        <p:nvPicPr>
          <p:cNvPr id="10" name="Picture 9" descr="farmer-03-candid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344" y="1783080"/>
            <a:ext cx="1499984" cy="324612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895344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11296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② 번호 고르기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11296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는 후보만 제시</a:t>
            </a:r>
          </a:p>
        </p:txBody>
      </p:sp>
      <p:pic>
        <p:nvPicPr>
          <p:cNvPr id="14" name="Picture 13" descr="farmer-04-quant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783080"/>
            <a:ext cx="1499984" cy="324612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748272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③ 수량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가격은 표준 정찰가</a:t>
            </a:r>
          </a:p>
        </p:txBody>
      </p:sp>
      <p:pic>
        <p:nvPicPr>
          <p:cNvPr id="18" name="Picture 17" descr="farmer-06-do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0" y="1783080"/>
            <a:ext cx="1499984" cy="324612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601200" y="1783080"/>
            <a:ext cx="1499984" cy="324612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17152" y="516636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DD4B14"/>
                </a:solidFill>
                <a:latin typeface="맑은 고딕"/>
              </a:rPr>
              <a:t>④ 판매 시작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7152" y="5532120"/>
            <a:ext cx="2697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거점에 갖다 놓으면 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실제 실행 중인 서버 화면 캡처(재현: npm start → tools/capture_screens.mjs). 목업이 아닙니다.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핵심 설계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AI 는 판정하지 않는다. 물어본다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6</a:t>
            </a:r>
          </a:p>
        </p:txBody>
      </p:sp>
      <p:pic>
        <p:nvPicPr>
          <p:cNvPr id="6" name="Picture 5" descr="farmer-03-candid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1691640"/>
            <a:ext cx="2049274" cy="44348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051560" y="1691640"/>
            <a:ext cx="2049274" cy="4434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80" y="182880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700" b="1">
                <a:solidFill>
                  <a:srgbClr val="23201C"/>
                </a:solidFill>
                <a:latin typeface="맑은 고딕"/>
              </a:rPr>
              <a:t>"이 중에 어느 것인가요?"</a:t>
            </a:r>
          </a:p>
        </p:txBody>
      </p:sp>
      <p:sp>
        <p:nvSpPr>
          <p:cNvPr id="9" name="Oval 8"/>
          <p:cNvSpPr/>
          <p:nvPr/>
        </p:nvSpPr>
        <p:spPr>
          <a:xfrm>
            <a:off x="4297680" y="2852928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743200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확정 대신 질문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AI 가 100% 확신해도 화면은 항상 번호를 고르게 합니다. 판정 주체는 사람입니다.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4297680" y="3694176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584448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실패해도 진행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후보에 없으면 '여기 없어요' 로 전체 품목에서 직접 고릅니다. AI 가 틀려도 판매는 멈추지 않습니다.</a:t>
            </a:r>
          </a:p>
        </p:txBody>
      </p:sp>
      <p:sp>
        <p:nvSpPr>
          <p:cNvPr id="13" name="Oval 12"/>
          <p:cNvSpPr/>
          <p:nvPr/>
        </p:nvSpPr>
        <p:spPr>
          <a:xfrm>
            <a:off x="4297680" y="4535424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425696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눈이 아니라 귀로도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화면을 읽어주고, 번호는 '일번·이번·삼번' 으로 말합니다. 수량은 말로도 입력합니다.</a:t>
            </a:r>
          </a:p>
        </p:txBody>
      </p:sp>
      <p:sp>
        <p:nvSpPr>
          <p:cNvPr id="15" name="Oval 14"/>
          <p:cNvSpPr/>
          <p:nvPr/>
        </p:nvSpPr>
        <p:spPr>
          <a:xfrm>
            <a:off x="4297680" y="5376672"/>
            <a:ext cx="118872" cy="118872"/>
          </a:xfrm>
          <a:prstGeom prst="ellipse">
            <a:avLst/>
          </a:prstGeom>
          <a:solidFill>
            <a:srgbClr val="DD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5266944"/>
            <a:ext cx="69494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1">
                <a:solidFill>
                  <a:srgbClr val="23201C"/>
                </a:solidFill>
                <a:latin typeface="맑은 고딕"/>
              </a:rPr>
              <a:t>입력창이 없다  </a:t>
            </a:r>
            <a:r>
              <a:rPr sz="1400" b="0">
                <a:solidFill>
                  <a:srgbClr val="7A7266"/>
                </a:solidFill>
                <a:latin typeface="맑은 고딕"/>
              </a:rPr>
              <a:t>글자를 치는 칸이 한 곳도 없습니다. 누르는 것과 고르는 것만 있습니다.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화면의 후보는 실제 모델 출력이며, 상위 3개 중 판매 가능한 품목만 제시한다(src/ai/pipeline.ts).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책임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AI 가 하지 않는 일을 코드가 강제한다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가격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AI 가 정하지 않는다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운영자가 미리 정한 표준 가격만 보여준다. 화면에도 그렇게 적혀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등급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확정이 아닌 참고값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확정은 거점의 실물 검수다. 근거가 없는 품목은 아예 표시하지 않는다.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1783080"/>
            <a:ext cx="3383280" cy="196596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4" y="199339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DD4B14"/>
                </a:solidFill>
                <a:latin typeface="맑은 고딕"/>
              </a:rPr>
              <a:t>신뢰도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4" y="23042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23201C"/>
                </a:solidFill>
                <a:latin typeface="맑은 고딕"/>
              </a:rPr>
              <a:t>85% 를 넘지 못한다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871216"/>
            <a:ext cx="28803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실환경 평가 전에는 상한이 걸린다. 어떤 판정 엔진을 붙여도 정책이 먼저 적용된다.</a:t>
            </a:r>
          </a:p>
        </p:txBody>
      </p:sp>
      <p:pic>
        <p:nvPicPr>
          <p:cNvPr id="18" name="Picture 17" descr="farmer-04-quant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977639"/>
            <a:ext cx="992947" cy="214884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731520" y="3977639"/>
            <a:ext cx="992947" cy="214884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03320" y="4114800"/>
            <a:ext cx="768096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실제 화면에 그대로 적혀 있습니다.</a:t>
            </a:r>
          </a:p>
          <a:p>
            <a:pPr algn="l">
              <a:lnSpc>
                <a:spcPct val="140000"/>
              </a:lnSpc>
            </a:pPr>
            <a:r>
              <a:rPr sz="1550" b="1">
                <a:solidFill>
                  <a:srgbClr val="DD4B14"/>
                </a:solidFill>
                <a:latin typeface="맑은 고딕"/>
              </a:rPr>
              <a:t>"이 가격은 운영자가 미리 정해 둔 표준 가격입니다. AI 가 정한 값이 아닙니다."</a:t>
            </a:r>
          </a:p>
          <a:p>
            <a:pPr algn="l">
              <a:lnSpc>
                <a:spcPct val="14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문서에만 쓴 약속은 시연에서 깨집니다. 그래서 이 경계는 화면 문구와 서버 코드 양쪽에 있고, 자동 테스트가 문구가 사라지는 순간 실패합니다.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src/ai/policy.ts 가 모든 판정 엔진의 출력에 상한과 품목별 등급 게이트를 적용한다. 정책을 우회하면 테스트가 깨지도록 고정했다.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데이터 이해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무엇으로 배웠고, 무엇을 아직 모르는가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9385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7A4D"/>
                </a:solidFill>
                <a:latin typeface="맑은 고딕"/>
              </a:rPr>
              <a:t>확인된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50592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학습 데이터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Hub 「농산물 품질(QC) 이미지」 · 5개 품목(사과·배·감귤·감자·양파)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621024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평가 단위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이미지가 아니라 개체(group) 단위. 같은 물체를 여러 장 찍은 데이터라 이미지 단위로 나누면 성능이 부풀려진다.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91456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품목 인식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개체 단위 100% — 다만 오른쪽 한계와 함께 읽어야 하는 숫자다.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257800" cy="416052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193852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B42525"/>
                </a:solidFill>
                <a:latin typeface="맑은 고딕"/>
              </a:rPr>
              <a:t>아직 모르는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50592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스튜디오 촬영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흰 배경·균일 조명에서 찍은 사진으로 배웠다. 밭에서 찍은 폰 사진은 다르다.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3621024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실환경 미평가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metadata 의 field_evaluated 가 false 다. 이 값이 true 가 되는 것이 PoC 의 성공 정의다.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791456"/>
            <a:ext cx="4617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그래서 상한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실환경 평가 전에는 신뢰도가 85% 를 넘지 못하게 코드가 막는다.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989320"/>
            <a:ext cx="10835640" cy="0"/>
          </a:xfrm>
          <a:prstGeom prst="roundRect">
            <a:avLst>
              <a:gd name="adj" fmla="val 6000"/>
            </a:avLst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숫자를 크게 말하지 않고 한계를 먼저 말한다. 스튜디오 사진으로 잰 정확도를 현장 성능으로 옮겨 적는 순간, 그 제안은 현장에서 무너진다.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데이터 이해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등급은 '중량만 써도 맞히는' 기준선과 비교했다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0881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7A7266"/>
                </a:solidFill>
                <a:latin typeface="맑은 고딕"/>
              </a:rPr>
              <a:t>농산물 등급은 상당 부분 크기 등급입니다. 그래서 AI 를 자랑하기 전에, 무게만 쓰는 단순 규칙과 비교했습니다.</a:t>
            </a:r>
          </a:p>
        </p:txBody>
      </p:sp>
      <p:pic>
        <p:nvPicPr>
          <p:cNvPr id="7" name="Picture 6" descr="g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10515600" cy="297611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5230368"/>
            <a:ext cx="10515600" cy="8686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53949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>
                <a:solidFill>
                  <a:srgbClr val="B42525"/>
                </a:solidFill>
                <a:latin typeface="맑은 고딕"/>
              </a:rPr>
              <a:t>양파는 AI 가 기준선보다 못했습니다</a:t>
            </a:r>
            <a:r>
              <a:rPr sz="1400" b="0">
                <a:solidFill>
                  <a:srgbClr val="23201C"/>
                </a:solidFill>
                <a:latin typeface="맑은 고딕"/>
              </a:rPr>
              <a:t>  (38.8% vs 73.8%). 그래서 양파 등급은 화면에 표시되지 않습니다 — 발표에서 숨기지 않고, 코드가 자동으로 막습니다.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기준선은 학습 분할에서만 임계값을 맞추고 검증 분할에서 한 번만 평가했다(models/metadata.json). 품목별 게이트는 src/ai/policy.ts 의 gradeAllowedFor 가 강제한다.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운영 구조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기존 로컬푸드 거점을 그대로 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1F7A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1F7A4D"/>
                </a:solidFill>
                <a:latin typeface="맑은 고딕"/>
              </a:rPr>
              <a:t>농가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사진 · 수량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집·밭에서 3분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14800" y="2697480"/>
            <a:ext cx="548640" cy="411480"/>
          </a:xfrm>
          <a:prstGeom prst="rightArrow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79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79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DD4B14"/>
                </a:solidFill>
                <a:latin typeface="맑은 고딕"/>
              </a:rPr>
              <a:t>로컬푸드 거점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검수 · 등급 확정 · 포장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기존 시설·인력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8092440" y="2697480"/>
            <a:ext cx="548640" cy="411480"/>
          </a:xfrm>
          <a:prstGeom prst="rightArrow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32519" y="20116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27940">
            <a:solidFill>
              <a:srgbClr val="2320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32519" y="2286000"/>
            <a:ext cx="3246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23201C"/>
                </a:solidFill>
                <a:latin typeface="맑은 고딕"/>
              </a:rPr>
              <a:t>소비자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2519" y="2788920"/>
            <a:ext cx="3246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>
                <a:solidFill>
                  <a:srgbClr val="23201C"/>
                </a:solidFill>
                <a:latin typeface="맑은 고딕"/>
              </a:rPr>
              <a:t>천안 밖 수요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19" y="3200400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전국에서 주문</a:t>
            </a:r>
          </a:p>
        </p:txBody>
      </p:sp>
      <p:pic>
        <p:nvPicPr>
          <p:cNvPr id="20" name="Picture 19" descr="hub-01-insp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069080"/>
            <a:ext cx="2861056" cy="20116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77240" y="4069080"/>
            <a:ext cx="2861056" cy="2011680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4114800"/>
            <a:ext cx="66751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23201C"/>
                </a:solidFill>
                <a:latin typeface="맑은 고딕"/>
              </a:rPr>
              <a:t>새 시설을 짓지 않습니다.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7A7266"/>
                </a:solidFill>
                <a:latin typeface="맑은 고딕"/>
              </a:rPr>
              <a:t>직매장 12곳은 경쟁자가 아니라 인프라입니다. ON-FARM 은 직매장에 갈 수 없는 농가와, 직매장이 닿지 않는 지역 밖 수요를 맡습니다.</a:t>
            </a:r>
          </a:p>
          <a:p>
            <a:pPr algn="l">
              <a:lnSpc>
                <a:spcPct val="140000"/>
              </a:lnSpc>
            </a:pPr>
            <a:r>
              <a:rPr sz="1450" b="1">
                <a:solidFill>
                  <a:srgbClr val="DD4B14"/>
                </a:solidFill>
                <a:latin typeface="맑은 고딕"/>
              </a:rPr>
              <a:t>천안 농산물을 천안 밖으로 파는 구조라, 매출은 천안으로 들어옵니다.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거점 화면도 실제 구현이며, 검수 전 상품은 소비자 화면에 노출되지 않는다.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실행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성환 1거점 · 5농가 · 8주부터 시작한다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31750">
            <a:solidFill>
              <a:srgbClr val="DD4B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Phase 1 · 8주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성환 1거점 · 농가 5호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실사용 등록과 소요시간 측정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등록 시 실제 폰 사진 수집 → 실환경 평가셋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검수·출하·정산 1주기 완주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7A7266"/>
                </a:solidFill>
                <a:latin typeface="맑은 고딕"/>
              </a:rPr>
              <a:t>Phase 2 · 12주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3거점 · 농가 30호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확인할 것은 성능이 아니라 운영 부하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거점 1곳의 하루 처리 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인접 농가 묶음 배송 성립 여부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10144" y="1783080"/>
            <a:ext cx="3383280" cy="32004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1993392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7A7266"/>
                </a:solidFill>
                <a:latin typeface="맑은 고딕"/>
              </a:rPr>
              <a:t>Phase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359152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50" b="1">
                <a:solidFill>
                  <a:srgbClr val="23201C"/>
                </a:solidFill>
                <a:latin typeface="맑은 고딕"/>
              </a:rPr>
              <a:t>전 거점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2926080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Phase 2 에서 손익분기가 나온 뒤 판단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3529584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지금 확산 규모를 말하지 않는다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133088"/>
            <a:ext cx="2880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· 근거 없는 숫자는 적지 않는다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5166360"/>
            <a:ext cx="10835640" cy="914400"/>
          </a:xfrm>
          <a:prstGeom prst="roundRect">
            <a:avLst>
              <a:gd name="adj" fmla="val 6000"/>
            </a:avLst>
          </a:prstGeom>
          <a:solidFill>
            <a:srgbClr val="FD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53492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3201C"/>
                </a:solidFill>
                <a:latin typeface="맑은 고딕"/>
              </a:rPr>
              <a:t>각 단계 끝에 Go/No-Go 를 둡니다. </a:t>
            </a:r>
            <a:r>
              <a:rPr sz="1600" b="1">
                <a:solidFill>
                  <a:srgbClr val="DD4B14"/>
                </a:solidFill>
                <a:latin typeface="맑은 고딕"/>
              </a:rPr>
              <a:t>기준에 하나라도 미달하면 다음 단계로 가지 않습니다.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성환은 배 주산지이며 로컬푸드 거점이 이미 있다. 새 시설을 짓지 않는 것이 이 계획의 전제다.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중단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언제 멈출지를 먼저 정한다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929384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등록 완주율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35000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시작한 농가가 끝까지 등록했는가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07568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80% 이상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783080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6248" y="1929384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1건 등록 소요시간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2350008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중앙값 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207568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3분 이내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081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227832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폰 사진 품목 정확도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648456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개체 단위, 실제 현장 사진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3374136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85% 이상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081528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6248" y="3227832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등록 후 판매 성사율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3648456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올렸는데 안 팔리면 의미가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3374136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50% 이상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379976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4526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거점 추가 부담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9469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초과하면 협조가 끊긴다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23360" y="4672584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건당 10분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379976"/>
            <a:ext cx="5257800" cy="1078992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56248" y="4526280"/>
            <a:ext cx="3108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23201C"/>
                </a:solidFill>
                <a:latin typeface="맑은 고딕"/>
              </a:rPr>
              <a:t>농가 재사용 의향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6248" y="4946904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다음에도 쓰겠는가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55480" y="4672584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900" b="1">
                <a:solidFill>
                  <a:srgbClr val="DD4B14"/>
                </a:solidFill>
                <a:latin typeface="맑은 고딕"/>
              </a:rPr>
              <a:t>5명 중 4명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806440"/>
            <a:ext cx="10881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이 문장을 발표에서 그대로 말합니다 — 어느 하나라도 미달하면 확산하지 않습니다.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기획력 항목은 아이디어의 크기가 아니라 '누가, 언제, 무엇을 하고, 언제 멈추는가' 로 채점된다.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역할 · 비용 · 위험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100" b="1">
                <a:solidFill>
                  <a:srgbClr val="23201C"/>
                </a:solidFill>
                <a:latin typeface="맑은 고딕"/>
              </a:rPr>
              <a:t>농가가 하는 일은 두 가지뿐이다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89888"/>
            <a:ext cx="10908792" cy="20320"/>
          </a:xfrm>
          <a:prstGeom prst="rect">
            <a:avLst/>
          </a:prstGeom>
          <a:solidFill>
            <a:srgbClr val="E6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0" y="6327648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7A7266"/>
                </a:solidFill>
                <a:latin typeface="맑은 고딕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3852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역할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77440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농가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377440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사진 촬영 · 수량 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779776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거점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79776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검수 · 등급 확정 · 포장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82112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천안시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82112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표준 가격 · 정산 · 판정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84448"/>
            <a:ext cx="914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23201C"/>
                </a:solidFill>
                <a:latin typeface="맑은 고딕"/>
              </a:rPr>
              <a:t>개발팀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584448"/>
            <a:ext cx="22860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시스템 운영 · 측정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1737360"/>
            <a:ext cx="352044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193852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비용 (Phase 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359152"/>
            <a:ext cx="3017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신규 하드웨어</a:t>
            </a:r>
          </a:p>
          <a:p>
            <a:pPr algn="l">
              <a:lnSpc>
                <a:spcPct val="120000"/>
              </a:lnSpc>
            </a:pPr>
            <a:r>
              <a:rPr sz="3000" b="1">
                <a:solidFill>
                  <a:srgbClr val="DD4B14"/>
                </a:solidFill>
                <a:latin typeface="맑은 고딕"/>
              </a:rPr>
              <a:t>0원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200400"/>
            <a:ext cx="3063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농가는 자기 휴대폰, 거점은 기존 시설, 모델은 서버 CPU 에서 돌아 GPU 가 필요 없습니다.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737360"/>
            <a:ext cx="3337560" cy="2286000"/>
          </a:xfrm>
          <a:prstGeom prst="roundRect">
            <a:avLst>
              <a:gd name="adj" fmla="val 6000"/>
            </a:avLst>
          </a:prstGeom>
          <a:solidFill>
            <a:srgbClr val="FDF8F0"/>
          </a:solidFill>
          <a:ln w="15875">
            <a:solidFill>
              <a:srgbClr val="E6DD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1938528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DD4B14"/>
                </a:solidFill>
                <a:latin typeface="맑은 고딕"/>
              </a:rPr>
              <a:t>서버 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2359152"/>
            <a:ext cx="2834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7A7266"/>
                </a:solidFill>
                <a:latin typeface="맑은 고딕"/>
              </a:rPr>
              <a:t>월</a:t>
            </a:r>
          </a:p>
          <a:p>
            <a:pPr algn="l">
              <a:lnSpc>
                <a:spcPct val="120000"/>
              </a:lnSpc>
            </a:pPr>
            <a:r>
              <a:rPr sz="2600" b="1">
                <a:solidFill>
                  <a:srgbClr val="23201C"/>
                </a:solidFill>
                <a:latin typeface="맑은 고딕"/>
              </a:rPr>
              <a:t>5–15만 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3200400"/>
            <a:ext cx="2834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A7266"/>
                </a:solidFill>
                <a:latin typeface="맑은 고딕"/>
              </a:rPr>
              <a:t>소규모 인스턴스 1대. 사진은 외부 API 로 나가지 않습니다.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24528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23201C"/>
                </a:solidFill>
                <a:latin typeface="맑은 고딕"/>
              </a:rPr>
              <a:t>가장 큰 위험과 대응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617720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700016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폰 사진에서 정확도 급락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0" y="4700016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이미 예상하고 상한을 걸어둠 · 후보 3개 + 직접 선택으로 등록은 계속 가능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5138928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221224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등록은 되는데 안 팔림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5221224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Go/No-Go 에 판매 성사율 50% 포함 · 미달 시 수요 확보 방식부터 재설계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660136"/>
            <a:ext cx="10835640" cy="457200"/>
          </a:xfrm>
          <a:prstGeom prst="roundRect">
            <a:avLst>
              <a:gd name="adj" fmla="val 6000"/>
            </a:avLst>
          </a:prstGeom>
          <a:solidFill>
            <a:srgbClr val="F7F2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742432"/>
            <a:ext cx="3200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B42525"/>
                </a:solidFill>
                <a:latin typeface="맑은 고딕"/>
              </a:rPr>
              <a:t>등급 분쟁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97680" y="5742432"/>
            <a:ext cx="713232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7A7266"/>
                </a:solidFill>
                <a:latin typeface="맑은 고딕"/>
              </a:rPr>
              <a:t>AI 는 참고값, 확정은 거점 실물 검수 · 코드가 강제하고 화면에 표기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291072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7A7266"/>
                </a:solidFill>
                <a:latin typeface="맑은 고딕"/>
              </a:rPr>
              <a:t>위험을 숨기면 질의응답에서 드러난다. 가장 큰 위험을 먼저 적고, 그 위험이 현실이 돼도 서비스가 멈추지 않게 설계했다.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51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DD4B14"/>
                </a:solidFill>
                <a:latin typeface="맑은 고딕"/>
              </a:rPr>
              <a:t>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0876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>
                <a:solidFill>
                  <a:srgbClr val="FDF8F0"/>
                </a:solidFill>
                <a:latin typeface="맑은 고딕"/>
              </a:rPr>
              <a:t>천안 농가 </a:t>
            </a:r>
            <a:r>
              <a:rPr sz="3000" b="1">
                <a:solidFill>
                  <a:srgbClr val="DD4B14"/>
                </a:solidFill>
                <a:latin typeface="맑은 고딕"/>
              </a:rPr>
              <a:t>7,232가구</a:t>
            </a:r>
            <a:r>
              <a:rPr sz="3000" b="0">
                <a:solidFill>
                  <a:srgbClr val="FDF8F0"/>
                </a:solidFill>
                <a:latin typeface="맑은 고딕"/>
              </a:rPr>
              <a:t>가 로컬푸드 체계 밖에 있습니다.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FDF8F0"/>
                </a:solidFill>
                <a:latin typeface="맑은 고딕"/>
              </a:rPr>
              <a:t>그들이 못 파는 이유는 판로가 아니라 등록입니다.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작동하는 MVP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사진 한 장 → 판매 시작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오늘 시연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자동 테스트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156개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정책을 우회하면 실패한다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38328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2E2A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5661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9A9285"/>
                </a:solidFill>
                <a:latin typeface="맑은 고딕"/>
              </a:rPr>
              <a:t>재현 가능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3886200"/>
            <a:ext cx="2880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FDF8F0"/>
                </a:solidFill>
                <a:latin typeface="맑은 고딕"/>
              </a:rPr>
              <a:t>공개 데이터 + 스크립트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370832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9A9285"/>
                </a:solidFill>
                <a:latin typeface="맑은 고딕"/>
              </a:rPr>
              <a:t>숫자를 직접 다시 계산할 수 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1663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>
                <a:solidFill>
                  <a:srgbClr val="FDF8F0"/>
                </a:solidFill>
                <a:latin typeface="맑은 고딕"/>
              </a:rPr>
              <a:t>요청드리는 것은 성환 거점 1곳과 농가 5호, 8주입니다.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C9BFAE"/>
                </a:solidFill>
                <a:latin typeface="맑은 고딕"/>
              </a:rPr>
              <a:t>그 8주가 끝나면 기준 미달 여부를 숫자로 보고드리고, 미달이면 확산하지 않겠습니다.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093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A6256"/>
                </a:solidFill>
                <a:latin typeface="맑은 고딕"/>
              </a:rPr>
              <a:t>ON-FARM · 2026년 천안시 AI·데이터 기반 정책 아이디어 경진대회 과제4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