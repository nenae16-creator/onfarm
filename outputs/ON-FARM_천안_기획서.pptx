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874519"/>
            <a:ext cx="100584" cy="1371600"/>
          </a:xfrm>
          <a:prstGeom prst="rect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C9BFAE"/>
                </a:solidFill>
                <a:latin typeface="맑은 고딕"/>
              </a:rPr>
              <a:t>2026년 천안시 AI·데이터 기반 정책 아이디어 경진대회 · 과제4 스마트 농업 &amp; 축산 생산성 향상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>
                <a:solidFill>
                  <a:srgbClr val="FDF8F0"/>
                </a:solidFill>
                <a:latin typeface="맑은 고딕"/>
              </a:rPr>
              <a:t>ON-FARM</a:t>
            </a:r>
          </a:p>
          <a:p>
            <a:pPr algn="l">
              <a:lnSpc>
                <a:spcPct val="115000"/>
              </a:lnSpc>
            </a:pPr>
            <a:r>
              <a:rPr sz="2600" b="0">
                <a:solidFill>
                  <a:srgbClr val="E8E0D2"/>
                </a:solidFill>
                <a:latin typeface="맑은 고딕"/>
              </a:rPr>
              <a:t>사진 한 장으로 끝나는 고령농 출하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E8E0D2"/>
                </a:solidFill>
                <a:latin typeface="맑은 고딕"/>
              </a:rPr>
              <a:t>기른 것을 못 파는 손실을 줄여 </a:t>
            </a:r>
            <a:r>
              <a:rPr sz="2100" b="1">
                <a:solidFill>
                  <a:srgbClr val="DD4B14"/>
                </a:solidFill>
                <a:latin typeface="맑은 고딕"/>
              </a:rPr>
              <a:t>이미 심은 농산물의 실현 생산성</a:t>
            </a:r>
            <a:r>
              <a:rPr sz="2100" b="0">
                <a:solidFill>
                  <a:srgbClr val="E8E0D2"/>
                </a:solidFill>
                <a:latin typeface="맑은 고딕"/>
              </a:rPr>
              <a:t>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천안 농가 중 로컬푸드 체계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농가가 입력하는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 · 자동 테스트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156개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제출: 2026년 8월 · 본 자료의 모든 수치는 공개 데이터에서 재계산하며 산출 스크립트를 함께 제출합니다.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왜 이것이 과제4의 '생산성' 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생산성은 밭에서 끝나지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0">
                <a:solidFill>
                  <a:srgbClr val="7A7266"/>
                </a:solidFill>
                <a:latin typeface="맑은 고딕"/>
              </a:rPr>
              <a:t>스마트팜·품종개량은 </a:t>
            </a:r>
            <a:r>
              <a:rPr sz="1750" b="1">
                <a:solidFill>
                  <a:srgbClr val="7A7266"/>
                </a:solidFill>
                <a:latin typeface="맑은 고딕"/>
              </a:rPr>
              <a:t>수확량</a:t>
            </a:r>
            <a:r>
              <a:rPr sz="1750" b="0">
                <a:solidFill>
                  <a:srgbClr val="7A7266"/>
                </a:solidFill>
                <a:latin typeface="맑은 고딕"/>
              </a:rPr>
              <a:t>까지를 늘립니다. 그런데 천안의 고령 소농에게 손실이 나는 곳은 그다음 칸입니다.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잠재 생산량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땅과 품종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수확량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재배 기술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DD4B14"/>
                </a:solidFill>
                <a:latin typeface="맑은 고딕"/>
              </a:rPr>
              <a:t>실제 판매량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출하 능력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023360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DD4B14"/>
                </a:solidFill>
                <a:latin typeface="맑은 고딕"/>
              </a:rPr>
              <a:t>▲ 여기가 비어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0916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5604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23201C"/>
                </a:solidFill>
                <a:latin typeface="맑은 고딕"/>
              </a:rPr>
              <a:t>밭에서 아무리 잘 길러도 </a:t>
            </a:r>
            <a:r>
              <a:rPr sz="1700" b="1">
                <a:solidFill>
                  <a:srgbClr val="DD4B14"/>
                </a:solidFill>
                <a:latin typeface="맑은 고딕"/>
              </a:rPr>
              <a:t>팔지 못하면 생산성은 0</a:t>
            </a:r>
            <a:r>
              <a:rPr sz="1700" b="0">
                <a:solidFill>
                  <a:srgbClr val="23201C"/>
                </a:solidFill>
                <a:latin typeface="맑은 고딕"/>
              </a:rPr>
              <a:t>입니다.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7A7266"/>
                </a:solidFill>
                <a:latin typeface="맑은 고딕"/>
              </a:rPr>
              <a:t>ON-FARM 은 왼쪽 화살표가 아니라 </a:t>
            </a:r>
            <a:r>
              <a:rPr sz="1700" b="1">
                <a:solidFill>
                  <a:srgbClr val="23201C"/>
                </a:solidFill>
                <a:latin typeface="맑은 고딕"/>
              </a:rPr>
              <a:t>오른쪽 화살표</a:t>
            </a:r>
            <a:r>
              <a:rPr sz="1700" b="0">
                <a:solidFill>
                  <a:srgbClr val="7A7266"/>
                </a:solidFill>
                <a:latin typeface="맑은 고딕"/>
              </a:rPr>
              <a:t>를 굵게 만듭니다 — 이것이 실현 생산성입니다.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과제4 「스마트 농업 &amp; 축산 생산성 향상」의 생산성을 재배 단계가 아니라 실현 단계로 정의한다.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천안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천안 농가 4곳 중 3곳은 로컬푸드 체계 밖에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92024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천안시 전체 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49424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9,488가구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29968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KOSIS 농림어업조사 2024 (상대표준오차 4.5%)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0906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로컬푸드 참여 농가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19856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2,256가구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0040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직매장 12곳 · 2026년 매출 271억 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26110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체계 밖 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590288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D4B14"/>
                </a:solidFill>
                <a:latin typeface="맑은 고딕"/>
              </a:rPr>
              <a:t>7,232가구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7083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그들은 평균 65.1세가 경영하는 소농이다 (60대 이상 70% · 경지 1ha 미만 77%)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440680"/>
            <a:ext cx="5486400" cy="713232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555955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201C"/>
                </a:solidFill>
                <a:latin typeface="맑은 고딕"/>
              </a:rPr>
              <a:t>조사 주체·기준이 달라 정밀한 차집합이 아닙니다. 농가 수는 2024년, 연령·경지 비율은 2020년 총조사입니다.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출처: KOSIS DT_1EA1011(2024) 농가 · DT_1AG20107(2020 농림어업총조사) 연령·경지 · 로컬푸드 현황 보도(2026-05-27) · 산출 tools/cheonan_gap.py·cheonan_age.py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판로가 없는 게 아니라, 등록을 못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직매장도 기존 직거래 앱도, 농가가 다음을 '입력할 수 있다'고 전제합니다.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상품명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카테고리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중량·규격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가격 책정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상세 설명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사진 편집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41648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고령 소농에게는 이 여섯 칸이 곧 장벽입니다.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06440" y="2743200"/>
            <a:ext cx="777240" cy="548640"/>
          </a:xfrm>
          <a:prstGeom prst="rightArrow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4526280" cy="2560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21284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ON-FARM 에서 농가가 하는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69748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① 사진 찍기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17296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② 번호 고르기 (1·2·3)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64845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③ 수량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42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그 외 입력 항목 0개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6320"/>
            <a:ext cx="10607040" cy="109728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가격은 AI 가 아니라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운영자가 미리 정한 표준 가격</a:t>
            </a:r>
            <a:r>
              <a:rPr sz="1600" b="0">
                <a:solidFill>
                  <a:srgbClr val="7A7266"/>
                </a:solidFill>
                <a:latin typeface="맑은 고딕"/>
              </a:rPr>
              <a:t> 이고, 등급 확정과 포장은 거점이 합니다. 농가는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가격을 정하지도, 글을 쓰지도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기존 로컬푸드 직매장은 농가가 직접 상품을 갖다 놓고 가격표를 붙이고 재고를 관리하는 구조다 — 대체가 아니라 보완이다.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사진 한 장에서 판매 시작까지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5</a:t>
            </a:r>
          </a:p>
        </p:txBody>
      </p:sp>
      <p:pic>
        <p:nvPicPr>
          <p:cNvPr id="6" name="Picture 5" descr="farmer-02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783080"/>
            <a:ext cx="1499984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42416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① 사진 찍기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카메라 버튼 하나</a:t>
            </a:r>
          </a:p>
        </p:txBody>
      </p:sp>
      <p:pic>
        <p:nvPicPr>
          <p:cNvPr id="10" name="Picture 9" descr="farmer-03-candid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1783080"/>
            <a:ext cx="1499984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95344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② 번호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후보만 제시</a:t>
            </a:r>
          </a:p>
        </p:txBody>
      </p:sp>
      <p:pic>
        <p:nvPicPr>
          <p:cNvPr id="14" name="Picture 13" descr="farmer-04-quant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783080"/>
            <a:ext cx="1499984" cy="32461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48272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③ 수량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가격은 표준 정찰가</a:t>
            </a:r>
          </a:p>
        </p:txBody>
      </p:sp>
      <p:pic>
        <p:nvPicPr>
          <p:cNvPr id="18" name="Picture 17" descr="farmer-06-d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783080"/>
            <a:ext cx="1499984" cy="32461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01200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④ 판매 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거점에 갖다 놓으면 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실제 실행 중인 서버 화면 캡처(재현: npm start → tools/capture_screens.mjs). 목업이 아닙니다.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핵심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는 판정하지 않는다. 물어본다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armer-03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2049274" cy="4434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51560" y="1691640"/>
            <a:ext cx="2049274" cy="443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23201C"/>
                </a:solidFill>
                <a:latin typeface="맑은 고딕"/>
              </a:rPr>
              <a:t>"이 중에 어느 것인가요?"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852928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확정 대신 질문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AI 가 100% 확신해도 화면은 항상 번호를 고르게 합니다. 판정 주체는 사람입니다.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3694176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584448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실패해도 진행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후보에 없으면 '여기 없어요' 로 전체 품목에서 직접 고릅니다. AI 가 틀려도 판매는 멈추지 않습니다.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0" y="4535424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425696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눈이 아니라 귀로도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화면을 읽어주고, 번호는 '일번·이번·삼번' 으로 말합니다. 수량은 말로도 입력합니다.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5376672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5266944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입력창이 없다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글자를 치는 칸이 한 곳도 없습니다. 누르는 것과 고르는 것만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화면의 후보는 실제 모델 출력이며, 상위 3개 중 판매 가능한 품목만 제시한다(src/ai/pipeline.ts).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가 하지 않는 일을 코드가 강제한다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AI 가 정하지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운영자가 미리 정한 표준 가격만 보여준다. 화면에도 그렇게 적혀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확정이 아닌 참고값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확정은 거점의 실물 검수다. 근거가 없는 품목은 아예 표시하지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신뢰도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85% 를 넘지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상한이 걸린다. 어떤 판정 엔진을 붙여도 정책이 먼저 적용된다.</a:t>
            </a:r>
          </a:p>
        </p:txBody>
      </p:sp>
      <p:pic>
        <p:nvPicPr>
          <p:cNvPr id="18" name="Picture 17" descr="farmer-04-qua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992947" cy="21488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31520" y="3977639"/>
            <a:ext cx="992947" cy="2148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4114800"/>
            <a:ext cx="76809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실제 화면에 그대로 적혀 있습니다.</a:t>
            </a:r>
          </a:p>
          <a:p>
            <a:pPr algn="l">
              <a:lnSpc>
                <a:spcPct val="140000"/>
              </a:lnSpc>
            </a:pPr>
            <a:r>
              <a:rPr sz="1550" b="1">
                <a:solidFill>
                  <a:srgbClr val="DD4B14"/>
                </a:solidFill>
                <a:latin typeface="맑은 고딕"/>
              </a:rPr>
              <a:t>"이 가격은 운영자가 미리 정해 둔 표준 가격입니다. AI 가 정한 값이 아닙니다."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문서에만 쓴 약속은 시연에서 깨집니다. 그래서 이 경계는 화면 문구와 서버 코드 양쪽에 있고, 자동 테스트가 문구가 사라지는 순간 실패합니다.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src/ai/policy.ts 가 모든 판정 엔진의 출력에 상한과 품목별 등급 게이트를 적용한다. 정책을 우회하면 테스트가 깨지도록 고정했다.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무엇으로 배웠고, 무엇을 아직 모르는가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7A4D"/>
                </a:solidFill>
                <a:latin typeface="맑은 고딕"/>
              </a:rPr>
              <a:t>확인된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학습 데이터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「농산물 품질(QC) 이미지」 · 5개 품목(사과·배·감귤·감자·양파)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평가 단위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이미지가 아니라 개체(group) 단위. 같은 물체를 여러 장 찍은 데이터라 이미지 단위로 나누면 성능이 부풀려진다.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품목 인식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개체 단위 100% — 다만 오른쪽 한계와 함께 읽어야 하는 숫자다.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아직 모르는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스튜디오 촬영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흰 배경·균일 조명에서 찍은 사진으로 배웠다. 밭에서 찍은 폰 사진은 다르다.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실환경 미평가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metadata 의 field_evaluated 가 false 다. 이 값이 true 가 되는 것이 PoC 의 성공 정의다.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그래서 상한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신뢰도가 85% 를 넘지 못하게 코드가 막는다.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89320"/>
            <a:ext cx="1083564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숫자를 크게 말하지 않고 한계를 먼저 말한다. 스튜디오 사진으로 잰 정확도를 현장 성능으로 옮겨 적는 순간, 그 제안은 현장에서 무너진다.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등급은 '중량만 써도 맞히는' 기준선과 비교했다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7A7266"/>
                </a:solidFill>
                <a:latin typeface="맑은 고딕"/>
              </a:rPr>
              <a:t>농산물 등급은 상당 부분 크기 등급입니다. 그래서 AI 를 자랑하기 전에, 무게만 쓰는 단순 규칙과 비교했습니다.</a:t>
            </a:r>
          </a:p>
        </p:txBody>
      </p:sp>
      <p:pic>
        <p:nvPicPr>
          <p:cNvPr id="7" name="Picture 6" descr="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15600" cy="29761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230368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3949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B42525"/>
                </a:solidFill>
                <a:latin typeface="맑은 고딕"/>
              </a:rPr>
              <a:t>양파는 AI 가 기준선보다 못했습니다</a:t>
            </a:r>
            <a:r>
              <a:rPr sz="1400" b="0">
                <a:solidFill>
                  <a:srgbClr val="23201C"/>
                </a:solidFill>
                <a:latin typeface="맑은 고딕"/>
              </a:rPr>
              <a:t>  (38.8% vs 73.8%). 그래서 양파 등급은 화면에 표시되지 않습니다 — 발표에서 숨기지 않고, 코드가 자동으로 막습니다.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기준선은 학습 분할에서만 임계값을 맞추고 검증 분할에서 한 번만 평가했다(models/metadata.json). 품목별 게이트는 src/ai/policy.ts 의 gradeAllowedFor 가 강제한다.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운영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기존 로컬푸드 거점을 그대로 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F7A4D"/>
                </a:solidFill>
                <a:latin typeface="맑은 고딕"/>
              </a:rPr>
              <a:t>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사진 ·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집·밭에서 3분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7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DD4B14"/>
                </a:solidFill>
                <a:latin typeface="맑은 고딕"/>
              </a:rPr>
              <a:t>로컬푸드 거점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기존 시설·인력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251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232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3201C"/>
                </a:solidFill>
                <a:latin typeface="맑은 고딕"/>
              </a:rPr>
              <a:t>소비자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천안 밖 수요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전국에서 주문</a:t>
            </a:r>
          </a:p>
        </p:txBody>
      </p:sp>
      <p:pic>
        <p:nvPicPr>
          <p:cNvPr id="20" name="Picture 19" descr="hub-01-insp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69080"/>
            <a:ext cx="2861056" cy="20116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" y="4069080"/>
            <a:ext cx="2861056" cy="20116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114800"/>
            <a:ext cx="6675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23201C"/>
                </a:solidFill>
                <a:latin typeface="맑은 고딕"/>
              </a:rPr>
              <a:t>새 시설을 짓지 않습니다.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직매장 12곳은 경쟁자가 아니라 인프라입니다. ON-FARM 은 직매장에 갈 수 없는 농가와, 직매장이 닿지 않는 지역 밖 수요를 맡습니다.</a:t>
            </a:r>
          </a:p>
          <a:p>
            <a:pPr algn="l">
              <a:lnSpc>
                <a:spcPct val="140000"/>
              </a:lnSpc>
            </a:pPr>
            <a:r>
              <a:rPr sz="1450" b="1">
                <a:solidFill>
                  <a:srgbClr val="DD4B14"/>
                </a:solidFill>
                <a:latin typeface="맑은 고딕"/>
              </a:rPr>
              <a:t>천안 농산물을 천안 밖으로 파는 구조라, 매출은 천안으로 들어옵니다.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거점 화면도 실제 구현이며, 검수 전 상품은 소비자 화면에 노출되지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실행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성환 1거점 · 5농가 · 8주부터 시작한다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Phase 1 · 8주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성환 1거점 · 농가 5호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실사용 등록과 소요시간 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등록 시 실제 폰 사진 수집 → 실환경 평가셋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검수·출하·정산 1주기 완주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2 · 12주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3거점 · 농가 30호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확인할 것은 성능이 아니라 운영 부하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거점 1곳의 하루 처리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인접 농가 묶음 배송 성립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전 거점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Phase 2 에서 손익분기가 나온 뒤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지금 확산 규모를 말하지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근거 없는 숫자는 적지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16636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3492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3201C"/>
                </a:solidFill>
                <a:latin typeface="맑은 고딕"/>
              </a:rPr>
              <a:t>각 단계 끝에 Go/No-Go 를 둡니다. </a:t>
            </a:r>
            <a:r>
              <a:rPr sz="1600" b="1">
                <a:solidFill>
                  <a:srgbClr val="DD4B14"/>
                </a:solidFill>
                <a:latin typeface="맑은 고딕"/>
              </a:rPr>
              <a:t>기준에 하나라도 미달하면 다음 단계로 가지 않습니다.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성환은 배 주산지이며 로컬푸드 거점이 이미 있다. 새 시설을 짓지 않는 것이 이 계획의 전제다.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중단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언제 멈출지를 먼저 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완주율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시작한 농가가 끝까지 등록했는가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80% 이상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1건 등록 소요시간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중앙값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3분 이내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폰 사진 품목 정확도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개체 단위, 실제 현장 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85% 이상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후 판매 성사율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올렸는데 안 팔리면 의미가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50% 이상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거점 추가 부담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초과하면 협조가 끊긴다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건당 10분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농가 재사용 의향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624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다음에도 쓰겠는가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5명 중 4명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이 문장을 발표에서 그대로 말합니다 — 어느 하나라도 미달하면 확산하지 않습니다.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기획력 항목은 아이디어의 크기가 아니라 '누가, 언제, 무엇을 하고, 언제 멈추는가' 로 채점된다.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 · 비용 ·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농가가 하는 일은 두 가지뿐이다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농가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377440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사진 촬영 · 수량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79776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거점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797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82112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천안시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82112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표준 가격 · 정산 · 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84448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개발팀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8444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시스템 운영 · 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비용 (Phase 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359152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신규 하드웨어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DD4B14"/>
                </a:solidFill>
                <a:latin typeface="맑은 고딕"/>
              </a:rPr>
              <a:t>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3063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농가는 자기 휴대폰, 거점은 기존 시설, 모델은 서버 CPU 에서 돌아 GPU 가 필요 없습니다.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73736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938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서버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359152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월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5–15만 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소규모 인스턴스 1대. 사진은 외부 API 로 나가지 않습니다.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245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가장 큰 위험과 대응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17720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700016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폰 사진에서 정확도 급락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700016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 예상하고 상한을 걸어둠 · 후보 3개 + 직접 선택으로 등록은 계속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38928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221224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등록은 되는데 안 팔림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221224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Go/No-Go 에 판매 성사율 50% 포함 · 미달 시 수요 확보 방식부터 재설계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60136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등급 분쟁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742432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참고값, 확정은 거점 실물 검수 · 코드가 강제하고 화면에 표기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위험을 숨기면 질의응답에서 드러난다. 가장 큰 위험을 먼저 적고, 그 위험이 현실이 돼도 서비스가 멈추지 않게 설계했다.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활용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쓴 데이터를 전부 밝힌다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공고문이 요구하는 출처·수집 시점·범위·주요 변수를 데이터별로 적었습니다.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데이터 ·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1284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수집 시점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212848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기준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12848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사용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1284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주요 변수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6032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5176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AI Hub 농산물 품질(QC) 이미지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데이터셋 149 · 승인 후 수령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65176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 구축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2023-09 갱신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65176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5개 품목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122,425장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품목·품종·등급·중량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group_no(개체)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7472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DT_1EA1011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농림어업조사 · 표본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47472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47472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충남 천안시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47472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농가(가구)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상대표준오차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0624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9768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DT_1AG20107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농림어업총조사 · 전수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29768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OpenAPI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429768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29768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천안시 34010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전국 00 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29768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연령대별 농가·평균연령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경지규모별 농가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공공데이터포털 15154733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천안시 공모전 정보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512064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12064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~2024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12064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26개 대회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 173건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12064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공모전명·분야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수상작명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자료는 같은 물체를 여러 장 찍은 데이터라 이미지가 아닌 </a:t>
            </a:r>
            <a:r>
              <a:rPr sz="1250" b="1">
                <a:solidFill>
                  <a:srgbClr val="23201C"/>
                </a:solidFill>
                <a:latin typeface="맑은 고딕"/>
              </a:rPr>
              <a:t>개체 단위로 분할</a:t>
            </a:r>
            <a:r>
              <a:rPr sz="1250" b="0">
                <a:solidFill>
                  <a:srgbClr val="7A7266"/>
                </a:solidFill>
                <a:latin typeface="맑은 고딕"/>
              </a:rPr>
              <a:t>했습니다 — 학습 1,056 · 검증 200개체.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전체 명세는 docs/DATA_SOURCES.md — 변수·이용조건·한계를 데이터별로 적었다. 제출물에 실제 농가 사진과 개인정보는 포함되지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>
                <a:solidFill>
                  <a:srgbClr val="FDF8F0"/>
                </a:solidFill>
                <a:latin typeface="맑은 고딕"/>
              </a:rPr>
              <a:t>천안 농가 </a:t>
            </a:r>
            <a:r>
              <a:rPr sz="3000" b="1">
                <a:solidFill>
                  <a:srgbClr val="DD4B14"/>
                </a:solidFill>
                <a:latin typeface="맑은 고딕"/>
              </a:rPr>
              <a:t>7,232가구</a:t>
            </a:r>
            <a:r>
              <a:rPr sz="3000" b="0">
                <a:solidFill>
                  <a:srgbClr val="FDF8F0"/>
                </a:solidFill>
                <a:latin typeface="맑은 고딕"/>
              </a:rPr>
              <a:t>가 로컬푸드 체계 밖에 있습니다.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DF8F0"/>
                </a:solidFill>
                <a:latin typeface="맑은 고딕"/>
              </a:rPr>
              <a:t>그들이 못 파는 이유는 판로가 아니라 등록입니다.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사진 한 장 → 판매 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오늘 시연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자동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156개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정책을 우회하면 실패한다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재현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공개 데이터 + 스크립트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숫자를 직접 다시 계산할 수 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DF8F0"/>
                </a:solidFill>
                <a:latin typeface="맑은 고딕"/>
              </a:rPr>
              <a:t>요청드리는 것은 성환 거점 1곳과 농가 5호, 8주입니다.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C9BFAE"/>
                </a:solidFill>
                <a:latin typeface="맑은 고딕"/>
              </a:rPr>
              <a:t>그 8주가 끝나면 기준 미달 여부를 숫자로 보고드리고, 미달이면 확산하지 않겠습니다.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A6256"/>
                </a:solidFill>
                <a:latin typeface="맑은 고딕"/>
              </a:rPr>
              <a:t>ON-FARM · 2026년 천안시 AI·데이터 기반 정책 아이디어 경진대회 과제4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